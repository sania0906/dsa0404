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2"/>
  </p:sldMasterIdLst>
  <p:notesMasterIdLst>
    <p:notesMasterId r:id="rId16"/>
  </p:notesMasterIdLst>
  <p:sldIdLst>
    <p:sldId id="256" r:id="rId3"/>
    <p:sldId id="257" r:id="rId4"/>
    <p:sldId id="277" r:id="rId5"/>
    <p:sldId id="276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66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D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6895" y="13792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8815" y="196977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BAE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VISUALIZATION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6895" y="251841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8F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Python Pandas</a:t>
            </a:r>
            <a:endParaRPr lang="en-US" sz="3200" dirty="0"/>
          </a:p>
        </p:txBody>
      </p:sp>
      <p:sp>
        <p:nvSpPr>
          <p:cNvPr id="8" name="Text Box 7"/>
          <p:cNvSpPr txBox="1"/>
          <p:nvPr/>
        </p:nvSpPr>
        <p:spPr>
          <a:xfrm>
            <a:off x="179387" y="3083540"/>
            <a:ext cx="87852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  <a:t>DSA0404:Fundamentals of data science</a:t>
            </a:r>
          </a:p>
          <a:p>
            <a:endParaRPr lang="en-US" sz="4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078230" y="299085"/>
            <a:ext cx="74307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TECHNICAL</a:t>
            </a:r>
            <a:r>
              <a:rPr lang="en-US"/>
              <a:t> </a:t>
            </a:r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52826-4D0D-000D-7CAD-38D9FA80F93F}"/>
              </a:ext>
            </a:extLst>
          </p:cNvPr>
          <p:cNvSpPr txBox="1"/>
          <p:nvPr/>
        </p:nvSpPr>
        <p:spPr>
          <a:xfrm>
            <a:off x="425450" y="3916620"/>
            <a:ext cx="461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 Sania Herbert</a:t>
            </a:r>
          </a:p>
          <a:p>
            <a:r>
              <a:rPr lang="en-US" dirty="0"/>
              <a:t>Reg no:192324062</a:t>
            </a:r>
          </a:p>
          <a:p>
            <a:r>
              <a:rPr lang="en-US" dirty="0"/>
              <a:t>GUIDED BY: DR. Krishnaraj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Data Preprocessing 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300" dirty="0"/>
              <a:t>Data preprocessing is the process of converting raw, incomplete, inconsistent, or noisy data into a clean and meaningful format before analysis or machine learning.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Real-Life Examples</a:t>
            </a:r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altLang="en-US" sz="1400" dirty="0"/>
              <a:t>Hospital patient records often contain missing ages, duplicate patient IDs, or incorrect values. Data preprocessing cleans these records before analysis.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13" name="Picture 12"/>
          <p:cNvPicPr/>
          <p:nvPr/>
        </p:nvPicPr>
        <p:blipFill>
          <a:blip r:embed="rId3"/>
          <a:stretch>
            <a:fillRect/>
          </a:stretch>
        </p:blipFill>
        <p:spPr>
          <a:xfrm>
            <a:off x="247015" y="2565400"/>
            <a:ext cx="3827145" cy="234505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4"/>
          <a:stretch>
            <a:fillRect/>
          </a:stretch>
        </p:blipFill>
        <p:spPr>
          <a:xfrm>
            <a:off x="4122420" y="2571750"/>
            <a:ext cx="4894580" cy="2350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Data Preprocessing Matters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"80% of data science time is spent on data cleaning and preparation" - Industry Standard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B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Impact Areas: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Accuracy: Poor data leads to biased/inaccurate predictions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Efficiency: Clean data reduces computational overhead by 40-60%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2004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Outcomes: High-quality insights drive decision-making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Mitigation: Prevents data leakage and model failures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B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Cost of Skipping: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fails in production, ROI loss, reputation damage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818515" y="897890"/>
            <a:ext cx="7632700" cy="41560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042160" y="83820"/>
            <a:ext cx="55213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charset="0"/>
                <a:cs typeface="Times New Roman" panose="02020603050405020304" charset="0"/>
              </a:rPr>
              <a:t>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3600" dirty="0">
                <a:solidFill>
                  <a:schemeClr val="bg1"/>
                </a:solidFill>
              </a:rPr>
              <a:t>READING CSV FILE USING PANDAS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8620" y="1407795"/>
            <a:ext cx="8366760" cy="3150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Reading data means importing datasets into Python for analysis.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Most real-world datasets are stored in CSV (Comma Separated Values) format.</a:t>
            </a:r>
          </a:p>
          <a:p>
            <a:pPr marL="0" indent="0">
              <a:buNone/>
            </a:pPr>
            <a:r>
              <a:rPr lang="en-US" altLang="en-US" sz="1500" b="1" dirty="0">
                <a:latin typeface="Times New Roman" panose="02020603050405020304" charset="0"/>
                <a:cs typeface="Times New Roman" panose="02020603050405020304" charset="0"/>
              </a:rPr>
              <a:t>Sample Dataset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Name	Age	Department   Salary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Alice	25	IT	   50000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Bob		HR	   45000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Charlie	30	IT	  55000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David	28	Sales	  48000</a:t>
            </a:r>
          </a:p>
          <a:p>
            <a:pPr marL="0" indent="0">
              <a:buNone/>
            </a:pPr>
            <a:r>
              <a:rPr lang="en-US" altLang="en-US" sz="1500" b="1" dirty="0">
                <a:latin typeface="Times New Roman" panose="02020603050405020304" charset="0"/>
                <a:cs typeface="Times New Roman" panose="02020603050405020304" charset="0"/>
              </a:rPr>
              <a:t>code: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import pandas as pd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df = pd.read_csv("employees.csv")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print(df.head())</a:t>
            </a:r>
          </a:p>
          <a:p>
            <a:pPr marL="0" indent="0">
              <a:buNone/>
            </a:pPr>
            <a:r>
              <a:rPr lang="en-US" altLang="en-US" sz="1500" b="1" dirty="0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      Name   Age    Department   Salary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0    Alice  25.0        IT                50000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1      Bob   NaN      HR              45000</a:t>
            </a:r>
          </a:p>
          <a:p>
            <a:pPr marL="0" indent="0">
              <a:buNone/>
            </a:pPr>
            <a:r>
              <a:rPr lang="en-US" altLang="en-US" sz="1500" dirty="0">
                <a:latin typeface="Times New Roman" panose="02020603050405020304" charset="0"/>
                <a:cs typeface="Times New Roman" panose="02020603050405020304" charset="0"/>
              </a:rPr>
              <a:t>2  Charlie  30.0       IT                55000</a:t>
            </a:r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886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34770" y="44348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4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SELECTION &amp; FILTERING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Selecting only the required columns or rows from a dataset.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7498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6634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6" name="Text Box 15"/>
          <p:cNvSpPr txBox="1"/>
          <p:nvPr/>
        </p:nvSpPr>
        <p:spPr>
          <a:xfrm>
            <a:off x="222885" y="1564005"/>
            <a:ext cx="892111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Selecting Columns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df["Salary"]</a:t>
            </a: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Selecting Multiple Columns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df[["Name","Salary"]]</a:t>
            </a: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Filtering Records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df[df["Salary"]&gt;45000]</a:t>
            </a: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Name	Salary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Alice	50000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Charlie	55000</a:t>
            </a: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David	48000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4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HANDLING MISSING VALUES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2628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0749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7" name="Text Box 16"/>
          <p:cNvSpPr txBox="1"/>
          <p:nvPr/>
        </p:nvSpPr>
        <p:spPr>
          <a:xfrm>
            <a:off x="113665" y="905510"/>
            <a:ext cx="903287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Missing values are empty or unknown values represented by NaN (Not a Number).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Methods</a:t>
            </a:r>
          </a:p>
          <a:p>
            <a:endParaRPr lang="en-US" altLang="en-US" sz="15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Check Missing Values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df.isnull().sum()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Replace Missing Values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df.fillna(df["Age"].mean(), inplace=True)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Remove Missing Values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df.dropna()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Age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25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NaN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30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Age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25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27.5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4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CLEANING</a:t>
            </a:r>
          </a:p>
        </p:txBody>
      </p:sp>
      <p:sp>
        <p:nvSpPr>
          <p:cNvPr id="5" name="Text 3"/>
          <p:cNvSpPr/>
          <p:nvPr/>
        </p:nvSpPr>
        <p:spPr>
          <a:xfrm>
            <a:off x="242570" y="173736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000" dirty="0"/>
              <a:t>Data cleaning removes errors from datasets.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/>
              <a:t>Why?</a:t>
            </a:r>
          </a:p>
          <a:p>
            <a:pPr marL="0" indent="0">
              <a:buNone/>
            </a:pPr>
            <a:r>
              <a:rPr lang="en-US" altLang="en-US" sz="2000" dirty="0"/>
              <a:t>Improves accuracy</a:t>
            </a:r>
          </a:p>
          <a:p>
            <a:pPr marL="0" indent="0">
              <a:buNone/>
            </a:pPr>
            <a:r>
              <a:rPr lang="en-US" altLang="en-US" sz="2000" dirty="0"/>
              <a:t>Removes repeated records</a:t>
            </a:r>
          </a:p>
          <a:p>
            <a:pPr marL="0" indent="0">
              <a:buNone/>
            </a:pPr>
            <a:r>
              <a:rPr lang="en-US" altLang="en-US" sz="2000" dirty="0"/>
              <a:t>Produces reliable analysis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1470" y="1480820"/>
            <a:ext cx="7498080" cy="119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>
              <a:spcAft>
                <a:spcPct val="60000"/>
              </a:spcAft>
            </a:pPr>
            <a:endParaRPr lang="en-US" altLang="zh-CN" sz="1400" b="1">
              <a:sym typeface="+mn-ea"/>
            </a:endParaRPr>
          </a:p>
          <a:p>
            <a:pPr>
              <a:spcAft>
                <a:spcPct val="60000"/>
              </a:spcAft>
            </a:pPr>
            <a:endParaRPr lang="en-US" altLang="zh-CN" sz="1400" b="1">
              <a:sym typeface="+mn-ea"/>
            </a:endParaRPr>
          </a:p>
          <a:p>
            <a:pPr>
              <a:spcAft>
                <a:spcPct val="60000"/>
              </a:spcAft>
            </a:pPr>
            <a:endParaRPr lang="en-US" altLang="zh-CN" sz="1400" b="1">
              <a:sym typeface="+mn-ea"/>
            </a:endParaRPr>
          </a:p>
          <a:p>
            <a:pPr>
              <a:spcAft>
                <a:spcPct val="60000"/>
              </a:spcAft>
            </a:pPr>
            <a:endParaRPr lang="en-US" altLang="zh-CN" sz="1400" b="1">
              <a:sym typeface="+mn-ea"/>
            </a:endParaRPr>
          </a:p>
          <a:p>
            <a:pPr>
              <a:spcAft>
                <a:spcPct val="60000"/>
              </a:spcAft>
            </a:pPr>
            <a:endParaRPr lang="en-US" altLang="zh-CN" sz="1400" b="1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zh-CN" sz="1400" b="1">
                <a:sym typeface="+mn-ea"/>
              </a:rPr>
              <a:t>Remove Duplicate Records</a:t>
            </a:r>
            <a:endParaRPr lang="en-US" altLang="zh-CN" sz="1400" b="1"/>
          </a:p>
          <a:p>
            <a:pPr marL="342900" indent="-342900">
              <a:buSzPct val="100000"/>
              <a:buChar char="•"/>
            </a:pPr>
            <a:r>
              <a:rPr lang="en-US" altLang="zh-CN" sz="1400">
                <a:sym typeface="+mn-ea"/>
              </a:rPr>
              <a:t>df.drop_duplicates(inplace=True)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4805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graphicFrame>
        <p:nvGraphicFramePr>
          <p:cNvPr id="16" name="Table 15"/>
          <p:cNvGraphicFramePr/>
          <p:nvPr>
            <p:custDataLst>
              <p:tags r:id="rId1"/>
            </p:custDataLst>
          </p:nvPr>
        </p:nvGraphicFramePr>
        <p:xfrm>
          <a:off x="3359150" y="2148840"/>
          <a:ext cx="4838700" cy="1005840"/>
        </p:xfrm>
        <a:graphic>
          <a:graphicData uri="http://schemas.openxmlformats.org/drawingml/2006/table">
            <a:tbl>
              <a:tblPr/>
              <a:tblGrid>
                <a:gridCol w="120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Employee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Salary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Alice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50000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Bob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HR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45000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Charlie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55000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Charlie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55000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100"/>
                        <a:t>104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David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48000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/>
          <p:nvPr>
            <p:custDataLst>
              <p:tags r:id="rId2"/>
            </p:custDataLst>
          </p:nvPr>
        </p:nvGraphicFramePr>
        <p:xfrm>
          <a:off x="843915" y="3573780"/>
          <a:ext cx="4899660" cy="838200"/>
        </p:xfrm>
        <a:graphic>
          <a:graphicData uri="http://schemas.openxmlformats.org/drawingml/2006/table">
            <a:tbl>
              <a:tblPr/>
              <a:tblGrid>
                <a:gridCol w="1224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Employee 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Name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Salary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101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Alice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50000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102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Bob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HR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45000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103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Charlie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IT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55000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/>
                        <a:t>104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David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Sales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100"/>
                        <a:t>48000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4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SORTING DATA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6217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1148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6634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21208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6" name="Text Box 15"/>
          <p:cNvSpPr txBox="1"/>
          <p:nvPr/>
        </p:nvSpPr>
        <p:spPr>
          <a:xfrm>
            <a:off x="191135" y="908050"/>
            <a:ext cx="8952230" cy="4182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/>
              <a:t>Sorting arranges data in ascending or descending order.</a:t>
            </a:r>
          </a:p>
          <a:p>
            <a:pPr>
              <a:spcAft>
                <a:spcPct val="60000"/>
              </a:spcAft>
            </a:pPr>
            <a:r>
              <a:rPr lang="en-US" altLang="zh-CN" sz="1500" b="1">
                <a:latin typeface="Times New Roman" panose="02020603050405020304" charset="0"/>
                <a:cs typeface="Times New Roman" panose="02020603050405020304" charset="0"/>
              </a:rPr>
              <a:t>Why?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</a:rPr>
              <a:t> Finds highest and lowest values </a:t>
            </a:r>
          </a:p>
          <a:p>
            <a:pPr>
              <a:buFont typeface="Arial" panose="020B0604020202020204"/>
              <a:buChar char="•"/>
            </a:pPr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</a:rPr>
              <a:t> Makes reports easier to understand </a:t>
            </a:r>
          </a:p>
          <a:p>
            <a:pPr>
              <a:spcAft>
                <a:spcPct val="60000"/>
              </a:spcAft>
            </a:pPr>
            <a:r>
              <a:rPr lang="en-US" altLang="zh-CN" sz="1500" b="1">
                <a:latin typeface="Times New Roman" panose="02020603050405020304" charset="0"/>
                <a:cs typeface="Times New Roman" panose="02020603050405020304" charset="0"/>
              </a:rPr>
              <a:t>Ascending Order</a:t>
            </a:r>
          </a:p>
          <a:p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</a:rPr>
              <a:t>df.sort_values("Salary")</a:t>
            </a:r>
          </a:p>
          <a:p>
            <a:pPr>
              <a:spcAft>
                <a:spcPct val="60000"/>
              </a:spcAft>
            </a:pPr>
            <a:r>
              <a:rPr lang="en-US" altLang="zh-CN" sz="1500" b="1">
                <a:latin typeface="Times New Roman" panose="02020603050405020304" charset="0"/>
                <a:cs typeface="Times New Roman" panose="02020603050405020304" charset="0"/>
              </a:rPr>
              <a:t>Descending Order</a:t>
            </a:r>
          </a:p>
          <a:p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</a:rPr>
              <a:t>df.sort_values("Salary", ascending=False)</a:t>
            </a:r>
          </a:p>
          <a:p>
            <a:pPr>
              <a:spcAft>
                <a:spcPct val="60000"/>
              </a:spcAft>
            </a:pPr>
            <a:r>
              <a:rPr lang="en-US" altLang="zh-CN" sz="15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</a:p>
          <a:p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</a:rPr>
              <a:t>Before        </a:t>
            </a:r>
          </a:p>
          <a:p>
            <a:r>
              <a:rPr lang="en-US" altLang="zh-CN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55000
50000
45000</a:t>
            </a:r>
            <a:endParaRPr lang="en-US" altLang="zh-CN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5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15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771650" y="3658870"/>
            <a:ext cx="29565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After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55000
50000
45000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4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GROUPING &amp; RANKING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06908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5029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6" name="Text Box 15"/>
          <p:cNvSpPr txBox="1"/>
          <p:nvPr/>
        </p:nvSpPr>
        <p:spPr>
          <a:xfrm>
            <a:off x="153670" y="900430"/>
            <a:ext cx="899033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Grouping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Grouping combines similar records together.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Department-wise Average Salary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df.groupby("Department")["Salary"].mean()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Department	Average Salary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HR	46000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IT	52500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Sales	48000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Ranking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Ranking assigns positions based on values.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df["Rank"]=df["Salary"].rank(ascending=False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)</a:t>
            </a:r>
          </a:p>
          <a:p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Output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Employee	Salary	Rank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Charlie	55000	1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Alice	50000	2</a:t>
            </a:r>
          </a:p>
          <a:p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David	48000	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FUNDAMENTAL PYTHON LIBRARIES</a:t>
            </a:r>
          </a:p>
        </p:txBody>
      </p:sp>
      <p:sp>
        <p:nvSpPr>
          <p:cNvPr id="5" name="Text 3"/>
          <p:cNvSpPr/>
          <p:nvPr/>
        </p:nvSpPr>
        <p:spPr>
          <a:xfrm>
            <a:off x="97155" y="1645920"/>
            <a:ext cx="79552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Library	Purpose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NumPy: Numerical Computing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Pandas:Data Manipulation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SciPy:Scientific Computing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Scikit-Learn:Machine Learning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Matplotlib:Visualization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charset="0"/>
                <a:cs typeface="Times New Roman" panose="02020603050405020304" charset="0"/>
              </a:rPr>
              <a:t>Why These Libraries?</a:t>
            </a: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charset="0"/>
                <a:cs typeface="Times New Roman" panose="02020603050405020304" charset="0"/>
              </a:rPr>
              <a:t>They simplify complex data science tasks such as numerical computation, preprocessing, visualization, and machine learning.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680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6974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319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4805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029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3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NUMPY, SCIPY &amp; SCIKIT-LEARN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3756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80060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349240"/>
            <a:ext cx="74980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Box 14"/>
          <p:cNvSpPr txBox="1"/>
          <p:nvPr/>
        </p:nvSpPr>
        <p:spPr>
          <a:xfrm>
            <a:off x="146685" y="941705"/>
            <a:ext cx="89973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NumPy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Numerical array processing.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import numpy as np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a=np.array([1,2,3])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Used for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Arrays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Matrix operations</a:t>
            </a: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Mathematical computations</a:t>
            </a: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37205" y="970915"/>
            <a:ext cx="47459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Scikit-Learn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Library.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Used for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Classification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Regression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Clustering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Preprocessing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Evaluation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769610" y="970915"/>
            <a:ext cx="27146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SciPy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Scientific Computing Library.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Used for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Statistics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Optimization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Algebra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Signal Processing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4D7A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45720" cy="4320540"/>
          </a:xfrm>
          <a:prstGeom prst="rect">
            <a:avLst/>
          </a:prstGeom>
          <a:solidFill>
            <a:srgbClr val="6BAE44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68743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30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VISUALIZATION USING MATPLOTLIB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7680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06908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ext Box 17"/>
          <p:cNvSpPr txBox="1"/>
          <p:nvPr/>
        </p:nvSpPr>
        <p:spPr>
          <a:xfrm>
            <a:off x="42545" y="898525"/>
            <a:ext cx="894715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/>
              <a:t>What is Data Visualization?</a:t>
            </a:r>
          </a:p>
          <a:p>
            <a:r>
              <a:rPr lang="en-US" altLang="en-US"/>
              <a:t>Presenting data graphically for easy understanding.</a:t>
            </a:r>
          </a:p>
          <a:p>
            <a:r>
              <a:rPr lang="en-US" altLang="en-US" b="1"/>
              <a:t>Why?</a:t>
            </a:r>
          </a:p>
          <a:p>
            <a:r>
              <a:rPr lang="en-US" altLang="en-US"/>
              <a:t>Detect trends</a:t>
            </a:r>
          </a:p>
          <a:p>
            <a:r>
              <a:rPr lang="en-US" altLang="en-US"/>
              <a:t>Compare values</a:t>
            </a:r>
          </a:p>
          <a:p>
            <a:r>
              <a:rPr lang="en-US" altLang="en-US"/>
              <a:t>Identify patterns</a:t>
            </a:r>
          </a:p>
          <a:p>
            <a:r>
              <a:rPr lang="en-US" altLang="en-US"/>
              <a:t>Improve decision-making</a:t>
            </a:r>
          </a:p>
          <a:p>
            <a:r>
              <a:rPr lang="en-US" altLang="en-US" b="1"/>
              <a:t>Types of Charts</a:t>
            </a:r>
          </a:p>
          <a:p>
            <a:r>
              <a:rPr lang="en-US" altLang="en-US"/>
              <a:t>Bar Chart</a:t>
            </a:r>
          </a:p>
          <a:p>
            <a:r>
              <a:rPr lang="en-US" altLang="en-US"/>
              <a:t>Line Chart</a:t>
            </a:r>
          </a:p>
          <a:p>
            <a:r>
              <a:rPr lang="en-US" altLang="en-US"/>
              <a:t>Scatter Plot</a:t>
            </a:r>
          </a:p>
          <a:p>
            <a:r>
              <a:rPr lang="en-US" altLang="en-US"/>
              <a:t>Histogram</a:t>
            </a:r>
          </a:p>
          <a:p>
            <a:r>
              <a:rPr lang="en-US" altLang="en-US"/>
              <a:t>Pie Chart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2652395" y="1667510"/>
            <a:ext cx="37274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import matplotlib.pyplot as plt</a:t>
            </a:r>
          </a:p>
          <a:p>
            <a:r>
              <a:rPr lang="en-US" altLang="en-US"/>
              <a:t>plt.bar(df["Name"], df["Salary"])</a:t>
            </a:r>
          </a:p>
          <a:p>
            <a:r>
              <a:rPr lang="en-US" altLang="en-US"/>
              <a:t>plt.xlabel("Employee")</a:t>
            </a:r>
          </a:p>
          <a:p>
            <a:r>
              <a:rPr lang="en-US" altLang="en-US"/>
              <a:t>plt.ylabel("Salary")</a:t>
            </a:r>
          </a:p>
          <a:p>
            <a:r>
              <a:rPr lang="en-US" altLang="en-US"/>
              <a:t>plt.title("Employee Salary")</a:t>
            </a:r>
          </a:p>
          <a:p>
            <a:r>
              <a:rPr lang="en-US" altLang="en-US"/>
              <a:t>plt.show()</a:t>
            </a:r>
          </a:p>
          <a:p>
            <a:r>
              <a:rPr lang="en-US" altLang="en-US" b="1"/>
              <a:t>plt.bar(df["Name"], df["Salary"])</a:t>
            </a:r>
          </a:p>
          <a:p>
            <a:r>
              <a:rPr lang="en-US" altLang="en-US" b="1"/>
              <a:t>plt.plot(df["Name"], df["Salary"])</a:t>
            </a:r>
          </a:p>
          <a:p>
            <a:r>
              <a:rPr lang="en-US" altLang="en-US" b="1"/>
              <a:t>plt.scatter(df["Age"], df["Salary"])</a:t>
            </a:r>
          </a:p>
          <a:p>
            <a:r>
              <a:rPr lang="en-US" altLang="en-US" b="1"/>
              <a:t>plt.hist(df["Salary"])</a:t>
            </a:r>
          </a:p>
          <a:p>
            <a:r>
              <a:rPr lang="en-US" altLang="en-US" b="1"/>
              <a:t>plt.pie(department_count,</a:t>
            </a:r>
          </a:p>
          <a:p>
            <a:r>
              <a:rPr lang="en-US" altLang="en-US" b="1"/>
              <a:t>        labels=department_count.index,</a:t>
            </a:r>
          </a:p>
          <a:p>
            <a:r>
              <a:rPr lang="en-US" altLang="en-US" b="1"/>
              <a:t>        autopct="%1.1f%%")</a:t>
            </a:r>
          </a:p>
          <a:p>
            <a:endParaRPr lang="en-US" altLang="en-US" b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1*79"/>
  <p:tag name="TABLE_ENDDRAG_RECT" val="19*266*381*7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5*66"/>
  <p:tag name="TABLE_ENDDRAG_RECT" val="259*289*385*6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876</Words>
  <Application>Microsoft Office PowerPoint</Application>
  <PresentationFormat>On-screen Show (16:9)</PresentationFormat>
  <Paragraphs>236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Sania Herbert</cp:lastModifiedBy>
  <cp:revision>3</cp:revision>
  <dcterms:created xsi:type="dcterms:W3CDTF">2026-07-21T22:07:00Z</dcterms:created>
  <dcterms:modified xsi:type="dcterms:W3CDTF">2026-08-12T14:32:11Z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85155B37BD2F48808A1F1E80479655DC_12</vt:lpwstr>
  </property>
  <property fmtid="{D5CDD505-2E9C-101B-9397-08002B2CF9AE}" pid="3" name="KSOProductBuildVer">
    <vt:lpwstr>1033-12.1.0.27458</vt:lpwstr>
  </property>
</Properties>
</file>