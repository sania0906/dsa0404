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16"/>
    <p:sldId id="270" r:id="rId17"/>
    <p:sldId id="271" r:id="rId18"/>
    <p:sldId id="272" r:id="rId19"/>
    <p:sldId id="273" r:id="rId20"/>
    <p:sldId id="274" r:id="rId21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9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6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numpy.org/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pandas.pydata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cikit-learn.org/stable/" TargetMode="External"/><Relationship Id="rId5" Type="http://schemas.openxmlformats.org/officeDocument/2006/relationships/hyperlink" Target="https://www.kaggle.com/datasets/mirichoi0218/insurance" TargetMode="External"/><Relationship Id="rId10" Type="http://schemas.openxmlformats.org/officeDocument/2006/relationships/hyperlink" Target="https://docs.python.org/3/" TargetMode="External"/><Relationship Id="rId4" Type="http://schemas.openxmlformats.org/officeDocument/2006/relationships/image" Target="../media/image3.jpg"/><Relationship Id="rId9" Type="http://schemas.openxmlformats.org/officeDocument/2006/relationships/hyperlink" Target="https://matplotlib.org/" TargetMode="Externa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96948" y="1371600"/>
            <a:ext cx="87641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Healthcare Cost Prediction using EDA and Regression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048043" y="2560320"/>
            <a:ext cx="7153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DSA0404 – Fundamentals of Data Science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Dr. Krishnaraj Mony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Associate Professor/CSE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689188" y="3246120"/>
            <a:ext cx="22719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89188" y="3520439"/>
            <a:ext cx="2271932" cy="713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Times New Roman" pitchFamily="34" charset="0"/>
                <a:cs typeface="Times New Roman" pitchFamily="34" charset="-120"/>
              </a:rPr>
              <a:t>Y . Anjani Priya(192324176)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Times New Roman" pitchFamily="34" charset="0"/>
                <a:cs typeface="Times New Roman" pitchFamily="34" charset="-120"/>
              </a:rPr>
              <a:t>M . Apurva(192325138)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Times New Roman" pitchFamily="34" charset="0"/>
                <a:cs typeface="Times New Roman" pitchFamily="34" charset="-120"/>
              </a:rPr>
              <a:t>Sania Herbert(192324062)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15" name="Google Shape;204;p30">
            <a:extLst>
              <a:ext uri="{FF2B5EF4-FFF2-40B4-BE49-F238E27FC236}">
                <a16:creationId xmlns:a16="http://schemas.microsoft.com/office/drawing/2014/main" id="{6A250439-CA07-6257-07F9-090DF45C75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0128"/>
          <a:stretch/>
        </p:blipFill>
        <p:spPr>
          <a:xfrm>
            <a:off x="365759" y="117348"/>
            <a:ext cx="4145473" cy="71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05;p30">
            <a:extLst>
              <a:ext uri="{FF2B5EF4-FFF2-40B4-BE49-F238E27FC236}">
                <a16:creationId xmlns:a16="http://schemas.microsoft.com/office/drawing/2014/main" id="{B85FE23B-3578-53FA-9846-D10123066F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0128"/>
          <a:stretch/>
        </p:blipFill>
        <p:spPr>
          <a:xfrm>
            <a:off x="4572000" y="117348"/>
            <a:ext cx="4206240" cy="71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" y="64008"/>
            <a:ext cx="1208063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329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0" y="1955409"/>
            <a:ext cx="6267157" cy="251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 Prediction using EDA and Regression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expenses have increased significantly due to factors such as age, lifestyle, medical conditions, and treatment costs.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medical insurance charges helps individuals, hospitals, and insurance companies estimate future healthcare expenses accurately.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understand the dataset, identify trends, detect outliers, and discover relationships between variables.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techniques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applied to build predictive models that estimate healthcare costs based on patient characteristics. 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Medical Insurance Cost Prediction System Using Machine Learning | by Krinal  Gami | Medium">
            <a:extLst>
              <a:ext uri="{FF2B5EF4-FFF2-40B4-BE49-F238E27FC236}">
                <a16:creationId xmlns:a16="http://schemas.microsoft.com/office/drawing/2014/main" id="{F8929C63-918D-ED61-CD1F-A5EBFCEA5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852" y="1329397"/>
            <a:ext cx="2770317" cy="3355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64008"/>
            <a:ext cx="1151792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dirty="0"/>
          </a:p>
        </p:txBody>
      </p:sp>
      <p:pic>
        <p:nvPicPr>
          <p:cNvPr id="5" name="Image 2" descr="/home/claude/image_age_c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88720"/>
            <a:ext cx="2377440" cy="366217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20039" y="1188719"/>
            <a:ext cx="5855677" cy="3538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healthcare insurance dataset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key factors influencing healthcare costs,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BMI, smoking status, gender, number of children, and region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dataset by handling missing values, duplicates, and outliers.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relationships between features and medical insurance charges using graphs and statistical techniques.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predicted healthcare costs with actual costs and assess prediction accuracy.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insights that support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financial planning, insurance pricing, and healthcare decision-making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" y="64008"/>
            <a:ext cx="1005839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792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50990"/>
              </p:ext>
            </p:extLst>
          </p:nvPr>
        </p:nvGraphicFramePr>
        <p:xfrm>
          <a:off x="274320" y="1448972"/>
          <a:ext cx="8595360" cy="3483977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3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400" b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</a:t>
                      </a:r>
                      <a:endParaRPr lang="en-US" sz="1400" b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Authors</a:t>
                      </a:r>
                      <a:endParaRPr lang="en-US" sz="1400" b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</a:t>
                      </a:r>
                      <a:endParaRPr lang="en-US" sz="1400" b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400" b="1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Predicting Healthcare Costs Using Machine Learning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Smith &amp; Johnson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Regression, Random Forest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for Medical Cost Analysis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Chen et al.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Neural Networks, LSTM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Selection in Healthcare Cost Prediction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Patel &amp; Kumar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Engineering, XGBoost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Ensemble Methods for Healthcare Expense Forecasting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Williams et al.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Boosting, Stacking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EDA-Based Healthcare Cost Analysis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Anderson &amp; Lee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Statistical Analysis, Regression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64008"/>
            <a:ext cx="1132172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895" y="10972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3600" dirty="0"/>
          </a:p>
        </p:txBody>
      </p:sp>
      <p:pic>
        <p:nvPicPr>
          <p:cNvPr id="5" name="Image 2" descr="/home/claude/image_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748" y="1505550"/>
            <a:ext cx="2759242" cy="29260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5010" y="1505550"/>
            <a:ext cx="5518484" cy="3242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 estimation is often performed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insurance pricing rules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rely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patient information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may not capture all factors affecting medical expenses.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use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statistical methods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have lower prediction accuracy.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 is often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may vary depending on human judgment.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provide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analysis and visualization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identify patterns and trends.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" y="64008"/>
            <a:ext cx="1172277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274320" y="1548063"/>
            <a:ext cx="8227996" cy="315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 Prediction System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healthcare insurance data by handling missing values, duplicates, and outliers. Perform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data distribution, identify trends,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 features.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important factors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BMI, Smoking Status, Gender, Number of Children, and Region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healthcare costs.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medical insurance charges with improved accuracy. Evaluate the model using performance metrics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Generate accurate healthcare cost predictions to support better financial planning and insurance premium estimation.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logo1.jpg">
            <a:extLst>
              <a:ext uri="{FF2B5EF4-FFF2-40B4-BE49-F238E27FC236}">
                <a16:creationId xmlns:a16="http://schemas.microsoft.com/office/drawing/2014/main" id="{B4F146FB-CE53-7A7C-7D9C-9BC723F0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64008"/>
            <a:ext cx="1132172" cy="1097280"/>
          </a:xfrm>
          <a:prstGeom prst="rect">
            <a:avLst/>
          </a:prstGeom>
        </p:spPr>
      </p:pic>
      <p:pic>
        <p:nvPicPr>
          <p:cNvPr id="5" name="Image 1" descr="/home/claude/logo2.jpg">
            <a:extLst>
              <a:ext uri="{FF2B5EF4-FFF2-40B4-BE49-F238E27FC236}">
                <a16:creationId xmlns:a16="http://schemas.microsoft.com/office/drawing/2014/main" id="{94F6C6A9-88C8-23B8-497D-D6E78B14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895" y="109728"/>
            <a:ext cx="1005840" cy="1097280"/>
          </a:xfrm>
          <a:prstGeom prst="rect">
            <a:avLst/>
          </a:prstGeom>
        </p:spPr>
      </p:pic>
      <p:pic>
        <p:nvPicPr>
          <p:cNvPr id="6" name="Picture 5" descr="The architecture of cloud-based regression testing of health care sensors.  | Download Scientific Diagram">
            <a:extLst>
              <a:ext uri="{FF2B5EF4-FFF2-40B4-BE49-F238E27FC236}">
                <a16:creationId xmlns:a16="http://schemas.microsoft.com/office/drawing/2014/main" id="{F91ACF45-4F83-B2BB-DD51-765BE685F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" y="1363577"/>
            <a:ext cx="8732119" cy="3489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87434-6AF9-2B3A-08DF-4DC288472889}"/>
              </a:ext>
            </a:extLst>
          </p:cNvPr>
          <p:cNvSpPr txBox="1"/>
          <p:nvPr/>
        </p:nvSpPr>
        <p:spPr>
          <a:xfrm>
            <a:off x="1331495" y="176463"/>
            <a:ext cx="6432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SYSTEM ARCHITECTURE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5419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" y="64008"/>
            <a:ext cx="1140193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728" y="10972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5760" y="1620252"/>
            <a:ext cx="8412480" cy="3230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 prediction helps estimate future medical expenses accurately using patient and lifestyle information.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understand the dataset, identify patterns, and determine the most influential factors affecting healthcare costs.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developed to predict medical insurance charges based on features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BMI, smoking status, gender, number of children, and region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demonstrated effective prediction performance and can assist insurance companies, healthcare providers, and individuals in making informed financial decisions.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can include larger datasets, additional health-related features, and advanced machine learning algorithms to further enhance prediction accuracy.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64008"/>
            <a:ext cx="731520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5760" y="1275347"/>
            <a:ext cx="8412480" cy="3575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Cost Personal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https://www.kaggle.com/datasets/mirichoi0218/insurance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Documentation.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 Python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https://scikit-learn.org/stable/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Documentation.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Data Analysis Library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https://pandas.pydata.org/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 Documentation.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Package for Scientific Computing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https://numpy.org/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 Documentation.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with Python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https://matplotlib.org/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Software Foundation.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https://docs.python.org/3/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James, G., Witten, D., Hastie, T., &amp;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(2021).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Introduction to Statistical Learning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Edition). Springer.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Géron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(2023).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Machine Learning with Scikit-Learn,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TensorFlow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Edition). O'Reilly Media.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64008"/>
            <a:ext cx="1151792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DATA PREPROCESSING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457200" y="1188719"/>
            <a:ext cx="8229600" cy="3538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the raw healthcare insurance dataset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insurance.csv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containing age, sex, BMI, children, smoker status, region, and charges.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that all required columns are present and standardizes column names before use.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the dataset by dropping rows with missing values, so the regression model trains only on complete records.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the cleaned data into training and testing sets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80/20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a fixed random seed for reproducible results.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 categorical features (sex, smoker, region) from numerical features (age, BMI, children) ahead of encoding.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Feeds the prepared data into a scikit-learn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for downstream modeling.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64008"/>
            <a:ext cx="1151792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EXPLORATORY DATA ANALYSIS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457200" y="1188719"/>
            <a:ext cx="8229600" cy="3538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categorical features (sex, smoker, region) while passing numerical features through unchanged.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vs Healthcare Charges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plot, colour-coded by smoking status, to reveal cost trends by age.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vs Healthcare Charges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plot to examine the relationship between body mass index and cost.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average charges for smokers versus non-smokers using a grouped bar chart.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average charges across regions (southwest, southeast, northwest, northeast) using a bar chart.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 dataset-level KPIs — record count, average, maximum, and minimum charges — alongside every chart.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64008"/>
            <a:ext cx="1151792" cy="1097280"/>
          </a:xfrm>
          <a:prstGeom prst="rect">
            <a:avLst/>
          </a:prstGeom>
        </p:spPr>
      </p:pic>
      <p:pic>
        <p:nvPicPr>
          <p:cNvPr id="3" name="Image 1" descr="/home/claude/log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64008"/>
            <a:ext cx="100584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292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REGRESSION MODEL &amp; PREDICTION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457200" y="1188719"/>
            <a:ext cx="8229600" cy="3538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inside a scikit-learn Pipeline on the preprocessed training split.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trained model on the held-out test set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Score, MAE, and RMSE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healthcare charges for a new patient from age, sex, BMI, children, smoker status, and region entered by the doctor.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each prediction into a cost category —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or High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quick clinical interpretation.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every prediction to a patient history table that can be searched and exported as CSV.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Charges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the doctor can visually assess model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logo1.jpg">
            <a:extLst>
              <a:ext uri="{FF2B5EF4-FFF2-40B4-BE49-F238E27FC236}">
                <a16:creationId xmlns:a16="http://schemas.microsoft.com/office/drawing/2014/main" id="{B4F146FB-CE53-7A7C-7D9C-9BC723F0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64008"/>
            <a:ext cx="1132172" cy="1097280"/>
          </a:xfrm>
          <a:prstGeom prst="rect">
            <a:avLst/>
          </a:prstGeom>
        </p:spPr>
      </p:pic>
      <p:pic>
        <p:nvPicPr>
          <p:cNvPr id="5" name="Image 1" descr="/home/claude/logo2.jpg">
            <a:extLst>
              <a:ext uri="{FF2B5EF4-FFF2-40B4-BE49-F238E27FC236}">
                <a16:creationId xmlns:a16="http://schemas.microsoft.com/office/drawing/2014/main" id="{94F6C6A9-88C8-23B8-497D-D6E78B14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895" y="109728"/>
            <a:ext cx="1005840" cy="1097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87434-6AF9-2B3A-08DF-4DC288472889}"/>
              </a:ext>
            </a:extLst>
          </p:cNvPr>
          <p:cNvSpPr txBox="1"/>
          <p:nvPr/>
        </p:nvSpPr>
        <p:spPr>
          <a:xfrm>
            <a:off x="1200000" y="176463"/>
            <a:ext cx="6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IMPLEMENTATION – LOGIN &amp; DASHBOARD</a:t>
            </a:r>
            <a:endParaRPr lang="en-US" sz="3600" dirty="0"/>
          </a:p>
        </p:txBody>
      </p:sp>
      <p:pic>
        <p:nvPicPr>
          <p:cNvPr id="100" name="Screenshot Lef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" y="1628138"/>
            <a:ext cx="4256059" cy="266003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pic>
        <p:nvPicPr>
          <p:cNvPr id="101" name="Screenshot 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919" y="1628138"/>
            <a:ext cx="4256059" cy="266003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sp>
        <p:nvSpPr>
          <p:cNvPr id="102" name="Caption Left"/>
          <p:cNvSpPr txBox="1"/>
          <p:nvPr/>
        </p:nvSpPr>
        <p:spPr>
          <a:xfrm>
            <a:off x="22860" y="4328174"/>
            <a:ext cx="4256059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login secured with ID/password authentication</a:t>
            </a:r>
          </a:p>
        </p:txBody>
      </p:sp>
      <p:sp>
        <p:nvSpPr>
          <p:cNvPr id="103" name="Caption Right"/>
          <p:cNvSpPr txBox="1"/>
          <p:nvPr/>
        </p:nvSpPr>
        <p:spPr>
          <a:xfrm>
            <a:off x="4498919" y="4328174"/>
            <a:ext cx="4256059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— live KPIs and dataset summary (R² = 0.781)</a:t>
            </a:r>
          </a:p>
        </p:txBody>
      </p:sp>
    </p:spTree>
    <p:extLst>
      <p:ext uri="{BB962C8B-B14F-4D97-AF65-F5344CB8AC3E}">
        <p14:creationId xmlns:p14="http://schemas.microsoft.com/office/powerpoint/2010/main" val="1554196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logo1.jpg">
            <a:extLst>
              <a:ext uri="{FF2B5EF4-FFF2-40B4-BE49-F238E27FC236}">
                <a16:creationId xmlns:a16="http://schemas.microsoft.com/office/drawing/2014/main" id="{B4F146FB-CE53-7A7C-7D9C-9BC723F0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64008"/>
            <a:ext cx="1132172" cy="1097280"/>
          </a:xfrm>
          <a:prstGeom prst="rect">
            <a:avLst/>
          </a:prstGeom>
        </p:spPr>
      </p:pic>
      <p:pic>
        <p:nvPicPr>
          <p:cNvPr id="5" name="Image 1" descr="/home/claude/logo2.jpg">
            <a:extLst>
              <a:ext uri="{FF2B5EF4-FFF2-40B4-BE49-F238E27FC236}">
                <a16:creationId xmlns:a16="http://schemas.microsoft.com/office/drawing/2014/main" id="{94F6C6A9-88C8-23B8-497D-D6E78B14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895" y="109728"/>
            <a:ext cx="1005840" cy="1097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87434-6AF9-2B3A-08DF-4DC288472889}"/>
              </a:ext>
            </a:extLst>
          </p:cNvPr>
          <p:cNvSpPr txBox="1"/>
          <p:nvPr/>
        </p:nvSpPr>
        <p:spPr>
          <a:xfrm>
            <a:off x="1200000" y="176463"/>
            <a:ext cx="6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IMPLEMENTATION – REGISTRATION &amp; PREDICTION</a:t>
            </a:r>
            <a:endParaRPr lang="en-US" sz="3600" dirty="0"/>
          </a:p>
        </p:txBody>
      </p:sp>
      <p:pic>
        <p:nvPicPr>
          <p:cNvPr id="100" name="Screenshot Lef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" y="1628138"/>
            <a:ext cx="4256059" cy="266003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pic>
        <p:nvPicPr>
          <p:cNvPr id="101" name="Screenshot 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919" y="1628138"/>
            <a:ext cx="4256059" cy="266003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sp>
        <p:nvSpPr>
          <p:cNvPr id="102" name="Caption Left"/>
          <p:cNvSpPr txBox="1"/>
          <p:nvPr/>
        </p:nvSpPr>
        <p:spPr>
          <a:xfrm>
            <a:off x="22860" y="4328174"/>
            <a:ext cx="4256059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 form capturing age, BMI, smoker status, region</a:t>
            </a:r>
          </a:p>
        </p:txBody>
      </p:sp>
      <p:sp>
        <p:nvSpPr>
          <p:cNvPr id="103" name="Caption Right"/>
          <p:cNvSpPr txBox="1"/>
          <p:nvPr/>
        </p:nvSpPr>
        <p:spPr>
          <a:xfrm>
            <a:off x="4498919" y="4328174"/>
            <a:ext cx="4256059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charges (₹9,338.46) with Low/Moderate/High category</a:t>
            </a:r>
          </a:p>
        </p:txBody>
      </p:sp>
    </p:spTree>
    <p:extLst>
      <p:ext uri="{BB962C8B-B14F-4D97-AF65-F5344CB8AC3E}">
        <p14:creationId xmlns:p14="http://schemas.microsoft.com/office/powerpoint/2010/main" val="1554196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logo1.jpg">
            <a:extLst>
              <a:ext uri="{FF2B5EF4-FFF2-40B4-BE49-F238E27FC236}">
                <a16:creationId xmlns:a16="http://schemas.microsoft.com/office/drawing/2014/main" id="{B4F146FB-CE53-7A7C-7D9C-9BC723F0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64008"/>
            <a:ext cx="1132172" cy="1097280"/>
          </a:xfrm>
          <a:prstGeom prst="rect">
            <a:avLst/>
          </a:prstGeom>
        </p:spPr>
      </p:pic>
      <p:pic>
        <p:nvPicPr>
          <p:cNvPr id="5" name="Image 1" descr="/home/claude/logo2.jpg">
            <a:extLst>
              <a:ext uri="{FF2B5EF4-FFF2-40B4-BE49-F238E27FC236}">
                <a16:creationId xmlns:a16="http://schemas.microsoft.com/office/drawing/2014/main" id="{94F6C6A9-88C8-23B8-497D-D6E78B14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895" y="109728"/>
            <a:ext cx="1005840" cy="1097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87434-6AF9-2B3A-08DF-4DC288472889}"/>
              </a:ext>
            </a:extLst>
          </p:cNvPr>
          <p:cNvSpPr txBox="1"/>
          <p:nvPr/>
        </p:nvSpPr>
        <p:spPr>
          <a:xfrm>
            <a:off x="1200000" y="176463"/>
            <a:ext cx="6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IMPLEMENTATION – REPORTS &amp; MODEL PERFORMANCE</a:t>
            </a:r>
            <a:endParaRPr lang="en-US" sz="3600" dirty="0"/>
          </a:p>
        </p:txBody>
      </p:sp>
      <p:pic>
        <p:nvPicPr>
          <p:cNvPr id="100" name="Screenshot Lef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" y="1628138"/>
            <a:ext cx="4256059" cy="266003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pic>
        <p:nvPicPr>
          <p:cNvPr id="101" name="Screenshot 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919" y="1628138"/>
            <a:ext cx="4256059" cy="2660036"/>
          </a:xfrm>
          <a:prstGeom prst="rect">
            <a:avLst/>
          </a:prstGeom>
          <a:ln w="9525">
            <a:solidFill>
              <a:srgbClr val="C9C9C9"/>
            </a:solidFill>
          </a:ln>
        </p:spPr>
      </p:pic>
      <p:sp>
        <p:nvSpPr>
          <p:cNvPr id="102" name="Caption Left"/>
          <p:cNvSpPr txBox="1"/>
          <p:nvPr/>
        </p:nvSpPr>
        <p:spPr>
          <a:xfrm>
            <a:off x="22860" y="4328174"/>
            <a:ext cx="4256059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vs Charges and dataset KPIs on the Reports &amp; Analysis page</a:t>
            </a:r>
          </a:p>
        </p:txBody>
      </p:sp>
      <p:sp>
        <p:nvSpPr>
          <p:cNvPr id="103" name="Caption Right"/>
          <p:cNvSpPr txBox="1"/>
          <p:nvPr/>
        </p:nvSpPr>
        <p:spPr>
          <a:xfrm>
            <a:off x="4498919" y="4328174"/>
            <a:ext cx="4256059" cy="3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— R², MAE, RMSE and Actual vs Predicted plot</a:t>
            </a:r>
          </a:p>
        </p:txBody>
      </p:sp>
    </p:spTree>
    <p:extLst>
      <p:ext uri="{BB962C8B-B14F-4D97-AF65-F5344CB8AC3E}">
        <p14:creationId xmlns:p14="http://schemas.microsoft.com/office/powerpoint/2010/main" val="155419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805</Words>
  <Application>Microsoft Office PowerPoint</Application>
  <PresentationFormat>On-screen Show (16:9)</PresentationFormat>
  <Paragraphs>90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Sania Herbert</cp:lastModifiedBy>
  <cp:revision>3</cp:revision>
  <dcterms:created xsi:type="dcterms:W3CDTF">2026-07-24T00:17:25Z</dcterms:created>
  <dcterms:modified xsi:type="dcterms:W3CDTF">2026-08-28T06:15:03Z</dcterms:modified>
</cp:coreProperties>
</file>